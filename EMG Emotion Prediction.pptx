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62" r:id="rId4"/>
    <p:sldId id="258" r:id="rId5"/>
    <p:sldId id="260" r:id="rId6"/>
    <p:sldId id="257" r:id="rId7"/>
    <p:sldId id="259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4996" autoAdjust="0"/>
    <p:restoredTop sz="19209" autoAdjust="0"/>
  </p:normalViewPr>
  <p:slideViewPr>
    <p:cSldViewPr snapToGrid="0">
      <p:cViewPr varScale="1">
        <p:scale>
          <a:sx n="18" d="100"/>
          <a:sy n="18" d="100"/>
        </p:scale>
        <p:origin x="36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A72A0A-C858-43DD-B909-4B99508D820A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445E-ECD8-4FDC-9ABA-CB527AB09D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7076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Thank you for the opportunity to 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1445E-ECD8-4FDC-9ABA-CB527AB09D33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925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Affective data science is a subset of data science related to emotions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This involves: Teaching computers to be able to recognize and communicate emotions, sentiment and feelings that people experience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Emotions are multi-faceted – we feel them but have a hard time explaining them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Feelings have different components to them: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Cognitive evaluation (what you’re thinking about)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Physical sensation (what’s physically felt)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Intention (what’s meant to be felt)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A subjective “feeling” (what’s felt)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Interpersonal component (your relationship with the person involved)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Adding to this is an additional layer of complexity: ...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When you consider our…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Tone of voice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Irony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Sarcasm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Homonyms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Metaphors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Figurative speech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All of these things adds layers to the expression of emotions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Studying emotions has grown rapidly using computer models and our improving understanding of them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A key part of affective data science is emotion prediction – trying to use different forms of data to predict an emotional state</a:t>
            </a:r>
          </a:p>
          <a:p>
            <a:pPr marL="631908" lvl="1" indent="-174708">
              <a:buFont typeface="Arial" panose="020B0604020202020204" pitchFamily="34" charset="0"/>
              <a:buChar char="•"/>
            </a:pPr>
            <a:r>
              <a:rPr lang="en-CA" dirty="0"/>
              <a:t>This is traditionally run with audio, video, text and more</a:t>
            </a:r>
          </a:p>
          <a:p>
            <a:pPr marL="631908" lvl="1" indent="-174708">
              <a:buFont typeface="Arial" panose="020B0604020202020204" pitchFamily="34" charset="0"/>
              <a:buChar char="•"/>
            </a:pPr>
            <a:r>
              <a:rPr lang="en-CA" dirty="0"/>
              <a:t>Our literature review identified that </a:t>
            </a:r>
            <a:r>
              <a:rPr lang="en-CA" dirty="0" err="1"/>
              <a:t>biosignals</a:t>
            </a:r>
            <a:r>
              <a:rPr lang="en-CA" dirty="0"/>
              <a:t> are a very underrated form of data for these purposes – such as heartrate, respiration, and electromyography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1445E-ECD8-4FDC-9ABA-CB527AB09D33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5875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Goals: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Create an emotion prediction model that can classify the emotional state for electromyography signals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Determine the effectiveness of electromyography data as a predictor of emotional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1445E-ECD8-4FDC-9ABA-CB527AB09D33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3615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To fuel our EMG prediction model, we used the </a:t>
            </a:r>
            <a:r>
              <a:rPr lang="en-CA" dirty="0" err="1"/>
              <a:t>PeakAffect</a:t>
            </a:r>
            <a:r>
              <a:rPr lang="en-CA" dirty="0"/>
              <a:t> dataset – a dataset that contains emotional biometric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Participants were shown emotional videos with content to trigger: Calmness, Happiness, Sadness, Anger, Fear and Disgust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In between emotional videos, participants were shown Neutral videos to bring their emotional state back to baseline levels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This is comparable to wine tasters cleansing their palettes in between wine tasting, so that their previous experiences don’t taint their sequential experiences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During the videos, the participants </a:t>
            </a:r>
            <a:r>
              <a:rPr lang="en-CA" dirty="0" err="1"/>
              <a:t>biosignals</a:t>
            </a:r>
            <a:r>
              <a:rPr lang="en-CA" dirty="0"/>
              <a:t> were recorded (with channels such as EMG, EKG and respiration)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It is also important to consider the kind of EMG data being recorded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Just because you have EMG data, you don’t necessarily have a good indicator of emotional state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Ideally, you will want to analyze muscles that are correlated with emotions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 err="1"/>
              <a:t>PeakAffectDS</a:t>
            </a:r>
            <a:r>
              <a:rPr lang="en-CA" dirty="0"/>
              <a:t> takes this into account, as it uses the corrugator and zygomaticus muscles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b="1" dirty="0"/>
              <a:t>Corrugator:</a:t>
            </a:r>
            <a:r>
              <a:rPr lang="en-CA" dirty="0"/>
              <a:t> Eyebrow muscles, correlated with raising or furrowing of eyebrows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b="1" dirty="0"/>
              <a:t>Zygomaticus:</a:t>
            </a:r>
            <a:r>
              <a:rPr lang="en-CA" dirty="0"/>
              <a:t> Cheek muscles, correlated with smiling, frowning and more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1445E-ECD8-4FDC-9ABA-CB527AB09D33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3021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Electromyography signals are graphs of the voltage running through your muscles over time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These electrical signals contain messages about the movement of muscles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Can be analyzed to understand their movement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This format presents a problem: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In data science, we typically work with data in </a:t>
            </a:r>
            <a:r>
              <a:rPr lang="en-CA" b="0" dirty="0"/>
              <a:t>tables with features for each instance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b="0" dirty="0"/>
              <a:t>Each EMG signal is itself a long table of values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b="0" dirty="0"/>
              <a:t>So how do we take this waveform signal and interpret meaning?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b="0" dirty="0"/>
              <a:t>There are two ways we could approach this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b="0" dirty="0"/>
              <a:t>We could put the entire signal into an LLM and ask it to interpret the meaning</a:t>
            </a:r>
          </a:p>
          <a:p>
            <a:pPr marL="1106481" lvl="2" indent="-174708">
              <a:buFont typeface="Arial" panose="020B0604020202020204" pitchFamily="34" charset="0"/>
              <a:buChar char="•"/>
            </a:pPr>
            <a:r>
              <a:rPr lang="en-CA" b="0" dirty="0"/>
              <a:t>This could work, but has some problems:</a:t>
            </a:r>
          </a:p>
          <a:p>
            <a:pPr marL="1572368" lvl="3" indent="-174708">
              <a:buFont typeface="Arial" panose="020B0604020202020204" pitchFamily="34" charset="0"/>
              <a:buChar char="•"/>
            </a:pPr>
            <a:r>
              <a:rPr lang="en-CA" b="0" dirty="0"/>
              <a:t>We’re not actually learning anything (black box)</a:t>
            </a:r>
          </a:p>
          <a:p>
            <a:pPr marL="1572368" lvl="3" indent="-174708">
              <a:buFont typeface="Arial" panose="020B0604020202020204" pitchFamily="34" charset="0"/>
              <a:buChar char="•"/>
            </a:pPr>
            <a:r>
              <a:rPr lang="en-CA" b="0" dirty="0"/>
              <a:t>This is very resource/time intensive</a:t>
            </a:r>
          </a:p>
          <a:p>
            <a:pPr marL="1572368" lvl="3" indent="-174708">
              <a:buFont typeface="Arial" panose="020B0604020202020204" pitchFamily="34" charset="0"/>
              <a:buChar char="•"/>
            </a:pPr>
            <a:r>
              <a:rPr lang="en-CA" b="0" dirty="0"/>
              <a:t>LLMs can hallucinate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b="0" dirty="0"/>
              <a:t>We could use summary metrics as the basis of our decision making</a:t>
            </a:r>
          </a:p>
          <a:p>
            <a:pPr marL="1106481" lvl="2" indent="-174708">
              <a:buFont typeface="Arial" panose="020B0604020202020204" pitchFamily="34" charset="0"/>
              <a:buChar char="•"/>
            </a:pPr>
            <a:r>
              <a:rPr lang="en-CA" b="0" dirty="0"/>
              <a:t>Learn if we are using good predictors or not</a:t>
            </a:r>
          </a:p>
          <a:p>
            <a:pPr marL="1106481" lvl="2" indent="-174708">
              <a:buFont typeface="Arial" panose="020B0604020202020204" pitchFamily="34" charset="0"/>
              <a:buChar char="•"/>
            </a:pPr>
            <a:r>
              <a:rPr lang="en-CA" b="0" dirty="0"/>
              <a:t>Efficient</a:t>
            </a:r>
          </a:p>
          <a:p>
            <a:pPr marL="1106481" lvl="2" indent="-174708">
              <a:buFont typeface="Arial" panose="020B0604020202020204" pitchFamily="34" charset="0"/>
              <a:buChar char="•"/>
            </a:pPr>
            <a:r>
              <a:rPr lang="en-CA" b="0" dirty="0"/>
              <a:t>Machine precision</a:t>
            </a:r>
          </a:p>
          <a:p>
            <a:pPr marL="1106481" lvl="2" indent="-174708">
              <a:buFont typeface="Arial" panose="020B0604020202020204" pitchFamily="34" charset="0"/>
              <a:buChar char="•"/>
            </a:pPr>
            <a:r>
              <a:rPr lang="en-CA" b="0" dirty="0"/>
              <a:t>This is the basis of our decision for using EMG feature extraction software</a:t>
            </a:r>
          </a:p>
          <a:p>
            <a:pPr marL="17373" lvl="0" indent="0">
              <a:buFont typeface="Arial" panose="020B0604020202020204" pitchFamily="34" charset="0"/>
              <a:buNone/>
            </a:pPr>
            <a:endParaRPr lang="en-CA" b="0" dirty="0"/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The next step was to decide which EMG processing software to use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We limited our selection to Python software, as it would integrate with our </a:t>
            </a:r>
            <a:r>
              <a:rPr lang="en-CA" dirty="0" err="1"/>
              <a:t>PyTorch</a:t>
            </a:r>
            <a:r>
              <a:rPr lang="en-CA" dirty="0"/>
              <a:t> code later for the model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CA" dirty="0"/>
              <a:t>The primary software we considered were: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/>
              <a:t>Neurokit2</a:t>
            </a:r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 err="1"/>
              <a:t>Pyemgpipeline</a:t>
            </a:r>
            <a:endParaRPr lang="en-CA" dirty="0"/>
          </a:p>
          <a:p>
            <a:pPr marL="640594" lvl="1" indent="-174708">
              <a:buFont typeface="Arial" panose="020B0604020202020204" pitchFamily="34" charset="0"/>
              <a:buChar char="•"/>
            </a:pPr>
            <a:r>
              <a:rPr lang="en-CA" dirty="0" err="1"/>
              <a:t>EMGFlow</a:t>
            </a:r>
            <a:endParaRPr lang="en-CA" dirty="0"/>
          </a:p>
          <a:p>
            <a:pPr marL="183394" lvl="0" indent="-174708">
              <a:buFont typeface="Arial" panose="020B0604020202020204" pitchFamily="34" charset="0"/>
              <a:buChar char="•"/>
            </a:pPr>
            <a:r>
              <a:rPr lang="en-CA" dirty="0"/>
              <a:t>We selected our EMG processing software based on the number of features it could extract</a:t>
            </a:r>
          </a:p>
          <a:p>
            <a:pPr marL="649281" lvl="1" indent="-174708">
              <a:buFont typeface="Arial" panose="020B0604020202020204" pitchFamily="34" charset="0"/>
              <a:buChar char="•"/>
            </a:pPr>
            <a:r>
              <a:rPr lang="en-CA" b="1" dirty="0"/>
              <a:t>Neurokit2:</a:t>
            </a:r>
            <a:r>
              <a:rPr lang="en-CA" dirty="0"/>
              <a:t> Provides a broad range of different </a:t>
            </a:r>
            <a:r>
              <a:rPr lang="en-CA" dirty="0" err="1"/>
              <a:t>biosignals</a:t>
            </a:r>
            <a:r>
              <a:rPr lang="en-CA" dirty="0"/>
              <a:t> (such as EMG, EKG, respiration, and more) but doesn’t go very deeply in any of them. Only provides 6 very basic summary features</a:t>
            </a:r>
          </a:p>
          <a:p>
            <a:pPr marL="649281" lvl="1" indent="-174708">
              <a:buFont typeface="Arial" panose="020B0604020202020204" pitchFamily="34" charset="0"/>
              <a:buChar char="•"/>
            </a:pPr>
            <a:r>
              <a:rPr lang="en-CA" b="1" dirty="0" err="1"/>
              <a:t>Pyemgpipeline</a:t>
            </a:r>
            <a:r>
              <a:rPr lang="en-CA" b="1" dirty="0"/>
              <a:t>:</a:t>
            </a:r>
            <a:r>
              <a:rPr lang="en-CA" dirty="0"/>
              <a:t> Only supports preprocessing, does not extract any features</a:t>
            </a:r>
          </a:p>
          <a:p>
            <a:pPr marL="649281" lvl="1" indent="-174708">
              <a:buFont typeface="Arial" panose="020B0604020202020204" pitchFamily="34" charset="0"/>
              <a:buChar char="•"/>
            </a:pPr>
            <a:r>
              <a:rPr lang="en-CA" b="1" dirty="0" err="1"/>
              <a:t>EMGFlow</a:t>
            </a:r>
            <a:r>
              <a:rPr lang="en-CA" b="1" dirty="0"/>
              <a:t>:</a:t>
            </a:r>
            <a:r>
              <a:rPr lang="en-CA" dirty="0"/>
              <a:t> Provides deep support for EMG preprocessing and feature extraction, offering over 30 features using the latest understanding in EMG features</a:t>
            </a:r>
          </a:p>
          <a:p>
            <a:pPr marL="192081" lvl="0" indent="-174708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1445E-ECD8-4FDC-9ABA-CB527AB09D33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9361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We built our emotion prediction model using </a:t>
            </a:r>
            <a:r>
              <a:rPr lang="en-CA" dirty="0" err="1"/>
              <a:t>PyTorch</a:t>
            </a:r>
            <a:r>
              <a:rPr lang="en-CA" dirty="0"/>
              <a:t> – a prominent machine learning package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For our setup, we created several functions, giving us a flexible environment to modify our model as we pleased: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b="1" dirty="0" err="1"/>
              <a:t>load_data</a:t>
            </a:r>
            <a:r>
              <a:rPr lang="en-CA" dirty="0"/>
              <a:t>: Load the EMG features into a state usable by the ML algorithm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First, we read the feature file, and load it in as a Pandas </a:t>
            </a:r>
            <a:r>
              <a:rPr lang="en-CA" dirty="0" err="1"/>
              <a:t>dataframe</a:t>
            </a:r>
            <a:endParaRPr lang="en-CA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Next, we split it into a training and testing set, to prevent data leakage in classification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Finally, we convert the training and testing sets into </a:t>
            </a:r>
            <a:r>
              <a:rPr lang="en-CA" dirty="0" err="1"/>
              <a:t>PyTorch</a:t>
            </a:r>
            <a:r>
              <a:rPr lang="en-CA" dirty="0"/>
              <a:t> </a:t>
            </a:r>
            <a:r>
              <a:rPr lang="en-CA" dirty="0" err="1"/>
              <a:t>dataloader</a:t>
            </a:r>
            <a:r>
              <a:rPr lang="en-CA" dirty="0"/>
              <a:t> objects, so the classifier can use them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We provide parameters to control the train/test split, as well as the batch size used in the classification model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b="1" dirty="0" err="1"/>
              <a:t>train_model</a:t>
            </a:r>
            <a:r>
              <a:rPr lang="en-CA" dirty="0"/>
              <a:t>: Train the classification model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Takes a </a:t>
            </a:r>
            <a:r>
              <a:rPr lang="en-CA" dirty="0" err="1"/>
              <a:t>trainloader</a:t>
            </a:r>
            <a:r>
              <a:rPr lang="en-CA" dirty="0"/>
              <a:t> object and a model, and runs a training loop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Uses cross entropy loss for criterion, and </a:t>
            </a:r>
            <a:r>
              <a:rPr lang="en-CA" dirty="0" err="1"/>
              <a:t>adam</a:t>
            </a:r>
            <a:r>
              <a:rPr lang="en-CA" dirty="0"/>
              <a:t> for the optimizer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We provide a parameter for the number of epochs of training to run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CA" dirty="0"/>
              <a:t>Every epoch, we print the loss and accuracy attained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b="1" dirty="0" err="1"/>
              <a:t>test_model</a:t>
            </a:r>
            <a:r>
              <a:rPr lang="en-CA" dirty="0"/>
              <a:t>: Test the classification model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Takes a </a:t>
            </a:r>
            <a:r>
              <a:rPr lang="en-CA" dirty="0" err="1"/>
              <a:t>testloader</a:t>
            </a:r>
            <a:r>
              <a:rPr lang="en-CA" dirty="0"/>
              <a:t> object and a model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Tests the trained model on the test dataset, seeing how it does on new data it has never seen before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CA" dirty="0"/>
              <a:t>Reduces the impact of over-fitting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Prints the final loss and accuracy it attains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Returns a </a:t>
            </a:r>
            <a:r>
              <a:rPr lang="en-CA" dirty="0" err="1"/>
              <a:t>dataframe</a:t>
            </a:r>
            <a:r>
              <a:rPr lang="en-CA" dirty="0"/>
              <a:t> of the test dataset, showing the true labels compared to the model’s predictions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b="1" dirty="0" err="1"/>
              <a:t>EmotionPredictionModel</a:t>
            </a:r>
            <a:r>
              <a:rPr lang="en-CA" dirty="0"/>
              <a:t>: Class controlling the classification model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Built on the standard </a:t>
            </a:r>
            <a:r>
              <a:rPr lang="en-CA" dirty="0" err="1"/>
              <a:t>torch.nn.module</a:t>
            </a:r>
            <a:r>
              <a:rPr lang="en-CA" dirty="0"/>
              <a:t> architecture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Made up of 4 linear layers with dropout and batch normalization in between each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Takes the 70 features of each EMG recording, reducing it to a class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1445E-ECD8-4FDC-9ABA-CB527AB09D33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2020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Once our environment was set up, we spent time fine tuning the model to improve its accuracy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We also made several observations that helped us trained the model better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Our first model got approximately 40% accuracy – good considering we were classifying 7 different classes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Our first major advancement came from substantially improving the model – we started with a basic 2-layer linear classifier, but after some research were able to make it much deeper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We increased the number of layers and hidden parameters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We added dropout and batch normalization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We used more epochs to train it longer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With this, we were able to bring it up to 60% classification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We also found some additional improvements with using GELU activation rather than RELU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It is described as a better choice for data from sensors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It is more robust to noise, among other technical reasons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We observed that after it was implemented, while we didn’t get higher maximum accuracy, the results were more stable around the upper end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Our biggest observation came from a deeper look at our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No matter what we did, we couldn’t get past 60% accuracy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After some thinking, we realised we had a critical case of class imbalance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Since neutral stimulus was being used between every two instances of emotional data, it was throwing the prediction off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The prediction model was incorrectly learning to guess “neutral” every time, as it was right half of the time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 err="1"/>
              <a:t>PeakAffectDS</a:t>
            </a:r>
            <a:r>
              <a:rPr lang="en-CA" dirty="0"/>
              <a:t> is relatively small, so we determined the best way to address this was to simply remove the neutral data from classification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This brought the accuracy down to 45%, but resulted in more intelligent learning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Our final improvement was to reduce the number of epochs in the training method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This dealt with overfitting, bring the model up to ~52% accuracy, which given our time constraints, we were happy with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1445E-ECD8-4FDC-9ABA-CB527AB09D33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9608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Our classification model was typically between 48% 52%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This is substantially better than random guessing, considering there are 6 total classes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There is certainly room for improvement, but this is strong evidence to support the idea of EMG as emotional predictors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Looking at the results more closely on a class-by-class basis, we get a deeper understanding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Predictions for “Calm” and “Angry” had 100% accuracy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“Happy”, “Sad” and “Fearful” were easily confused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“Disgust” was fairly accurate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1445E-ECD8-4FDC-9ABA-CB527AB09D33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064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On further consideration, these findings are consistent with the data we recorded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We have to consider the fact that we are strictly using the mouth and eyebrow muscles to make these predictions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We also have to consider with EMG data, all we can look at is the intensity with which these muscles are moving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Consider “Calm” vs. “Anger”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Typically when “Calm”, you have a resting face with minimal muscle activation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When “Angry”, your eyebrows and mouth move to make an angry face, usually with an intensity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These are the two ends of the extreme of emotions, making them very easy to identify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Now consider “Happy”, “Sad” and “Fearful”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“Happy” and “Sad” are more passive emotions with less extreme muscle movements “Fear” doesn’t typically express itself through movement of mouth or eyebrows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This makes these emotions less identifiable, so they were more easily confused with “Anger” and “Calm”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1445E-ECD8-4FDC-9ABA-CB527AB09D33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9449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Overall, our takeaway from this is that electromyography data is a good predictor of emotional state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The key is to use the most relevant muscles to the emotions you want to predict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Some future directions could explore: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Accuracy of using other muscles in emotion prediction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Include other </a:t>
            </a:r>
            <a:r>
              <a:rPr lang="en-CA" dirty="0" err="1"/>
              <a:t>biosignals</a:t>
            </a:r>
            <a:r>
              <a:rPr lang="en-CA" dirty="0"/>
              <a:t> – </a:t>
            </a:r>
            <a:r>
              <a:rPr lang="en-CA" dirty="0" err="1"/>
              <a:t>PeakAffectDS</a:t>
            </a:r>
            <a:r>
              <a:rPr lang="en-CA" dirty="0"/>
              <a:t> had respiration and heartrate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Analysis of a larger dataset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Researching further methods of improving the emotional classification model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Thank you for your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1445E-ECD8-4FDC-9ABA-CB527AB09D33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3223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Batch Normalization and Dropout: </a:t>
            </a:r>
            <a:r>
              <a:rPr lang="en-CA" dirty="0"/>
              <a:t>https://arxiv.org/pdf/1905.05928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GELU:</a:t>
            </a:r>
            <a:r>
              <a:rPr lang="en-CA" dirty="0"/>
              <a:t> https://arxiv.org/pdf/2402.02593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Class imbalance: </a:t>
            </a:r>
            <a:r>
              <a:rPr lang="en-CA" dirty="0"/>
              <a:t>https://www.jair.org/index.php/jair/article/view/10302/24590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1445E-ECD8-4FDC-9ABA-CB527AB09D33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8502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D35D-5DFA-EB99-339B-A753CD12F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F5D34-7E59-5E0D-7DCC-91DC0E04D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E6611-C826-A0B4-8F01-B50858D8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BA3F-883E-4AFC-A698-5838E0EC6A94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EC206-6E65-75CB-74F0-AA0E9FF70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36211-DC72-1BB0-FB2F-122D1008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96EFD-CA57-4F77-B4D8-272FC8B38C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4626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C1E2-F56F-706A-52F3-38076454F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A04-98A6-94A5-E4A4-45FD80C1A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951D6-888C-D31A-6961-3E077B8D6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BA3F-883E-4AFC-A698-5838E0EC6A94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4306E-5EA0-45C1-5C41-B3B1BA21C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7925F-9E7B-5B19-1053-DB806672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96EFD-CA57-4F77-B4D8-272FC8B38C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84A15-0D25-19B4-F40D-6CC175047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7F3-49CA-4C99-04CE-91367F446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91EBA-B9D5-3100-BDF6-EC7CB5011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BA3F-883E-4AFC-A698-5838E0EC6A94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1165B-3DBA-884C-1375-116080AD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4363D-B7D0-B9BC-A1BB-72643CEA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96EFD-CA57-4F77-B4D8-272FC8B38C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0450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37E9-8F82-9F08-DE4E-2CA27E21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9ADEC-C2BF-7055-9E72-F2D403C9D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7DFF4-B465-4FA4-89B3-9B20E5782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D144E-B727-B45A-386B-BC35FD744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BA3F-883E-4AFC-A698-5838E0EC6A94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1C6FC-CF6A-6075-61DB-D3D8417D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FB8A3-2DD9-4097-E62A-4B7D87AE8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96EFD-CA57-4F77-B4D8-272FC8B38C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640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2412-001B-1B9D-37D7-43482B66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E1775-00DF-C271-9D92-D34BFC12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314A6-5D61-7D3A-52F4-7AEC21E69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B89A8E-8A02-8F53-A0FA-11095A2C9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1CEB9C-B381-0458-316D-B215BE1EEB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0C0918-6F50-BCB4-C561-C6486083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BA3F-883E-4AFC-A698-5838E0EC6A94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1F7F34-4EC6-A869-8450-BD097A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5D1C7-D464-FDBB-4841-FE216D465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96EFD-CA57-4F77-B4D8-272FC8B38C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043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90344-E7E3-5D23-67EA-58D001F6A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EB14E-55EE-1D34-C402-5370094C8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BA3F-883E-4AFC-A698-5838E0EC6A94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5DC01-26F4-8A3D-D1F6-ECB190C6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E8C66-CA89-033C-F7F6-84410EC27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96EFD-CA57-4F77-B4D8-272FC8B38C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83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2A28A-8F0A-BAEB-CBBF-45BFF1F23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BA3F-883E-4AFC-A698-5838E0EC6A94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2AA3D-EFFE-C5FD-3F3B-D495DA289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EA951-69FD-70FA-D749-FDA77201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96EFD-CA57-4F77-B4D8-272FC8B38C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5652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470D-CF3F-B10B-D858-C02823499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64F0D-7A21-9459-788D-CCF73FB10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404C8-E056-AC72-0517-9CE52541E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C476D-C578-594F-CEA0-BA7C45B0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BA3F-883E-4AFC-A698-5838E0EC6A94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D8866-DBDE-0C84-8AB1-321892FF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0C8C7-DAED-FFCF-A6C6-E3ED2653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96EFD-CA57-4F77-B4D8-272FC8B38C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476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50D0-B6F1-B04B-614C-3EFE61F1D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2BB2E-D20A-F89F-E241-B46286815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01707-EE44-1239-E0CB-190B92B2A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93D3C-B331-1CE9-98D4-4D8527BB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BA3F-883E-4AFC-A698-5838E0EC6A94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35618-37C5-D7E3-C23E-AA4D9F73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8A710-64B8-1CE0-35B7-D0A83313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96EFD-CA57-4F77-B4D8-272FC8B38C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6421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3D293-A598-F63E-9986-167C6E99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1A2B3-3043-ABE6-099D-031EE9C6E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3123A-9797-3FA0-FF27-ACFF2B702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BA3F-883E-4AFC-A698-5838E0EC6A94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BCB17-960A-E7A5-9758-7FA8F966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4E626-BE42-0DF9-6A42-8F3AB88C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96EFD-CA57-4F77-B4D8-272FC8B38C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3447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F15971-601B-C7D0-4ADE-812AE1F54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B8547-33E9-925D-96CD-1D633AEFC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63658-FCF2-80C4-FDD4-D0F30BB47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BA3F-883E-4AFC-A698-5838E0EC6A94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7D6DF-FA07-DAA3-AAFD-D6B1B41F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58655-283E-5379-825F-03C004C2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96EFD-CA57-4F77-B4D8-272FC8B38C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474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51CA42-3AE8-93B3-654E-D34579B6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CCAD9-658B-D795-CF8A-5CDA95335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58D76-8138-0271-2622-E070CFD060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FBA3F-883E-4AFC-A698-5838E0EC6A94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50B49-2611-374B-290E-E26EF6A91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D59D9-40E6-7D01-8965-C342A8257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96EFD-CA57-4F77-B4D8-272FC8B38C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718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iIIson/EMG-Emotion-Predic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1905.0592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613/jair.953" TargetMode="External"/><Relationship Id="rId4" Type="http://schemas.openxmlformats.org/officeDocument/2006/relationships/hyperlink" Target="https://doi.org/10.48550/arXiv.2402.0259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ABC67-51F2-E6C2-7FDC-7DCDC8F919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EMG Emotion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B1F42-8E35-EBA0-CA20-D23E4C24DB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William Conley | Adrian Fudge | Oluwateniola "Teni" Adegbite</a:t>
            </a:r>
            <a:br>
              <a:rPr lang="en-CA" dirty="0"/>
            </a:br>
            <a:r>
              <a:rPr lang="en-CA" dirty="0"/>
              <a:t>Dilan Mian | Alannis Davis</a:t>
            </a:r>
          </a:p>
        </p:txBody>
      </p:sp>
    </p:spTree>
    <p:extLst>
      <p:ext uri="{BB962C8B-B14F-4D97-AF65-F5344CB8AC3E}">
        <p14:creationId xmlns:p14="http://schemas.microsoft.com/office/powerpoint/2010/main" val="2422022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A50D08-577A-A14D-D0CA-99D666B628F6}"/>
              </a:ext>
            </a:extLst>
          </p:cNvPr>
          <p:cNvSpPr/>
          <p:nvPr/>
        </p:nvSpPr>
        <p:spPr>
          <a:xfrm>
            <a:off x="-262890" y="570706"/>
            <a:ext cx="12630150" cy="914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34D71-8129-907C-BE3E-ADB80D7C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EFEA0F6D-67EA-DB0E-06BA-F1ED9243A6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40526"/>
            <a:ext cx="10515600" cy="372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44604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7F2427-B920-5BBD-D25F-2451E102E1FE}"/>
              </a:ext>
            </a:extLst>
          </p:cNvPr>
          <p:cNvSpPr/>
          <p:nvPr/>
        </p:nvSpPr>
        <p:spPr>
          <a:xfrm>
            <a:off x="-262890" y="570706"/>
            <a:ext cx="12630150" cy="914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46022-4A5B-4718-352B-DFB2BAD0D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10C94-C6C5-1AAC-CD69-E5D5AD46E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Create an emotion prediction model that can classify the emotional state for electromyography signals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Determine the effectiveness of electromyography data as a predictor of emotional state</a:t>
            </a:r>
          </a:p>
        </p:txBody>
      </p:sp>
    </p:spTree>
    <p:extLst>
      <p:ext uri="{BB962C8B-B14F-4D97-AF65-F5344CB8AC3E}">
        <p14:creationId xmlns:p14="http://schemas.microsoft.com/office/powerpoint/2010/main" val="2807848820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11C68C-B4B8-DB46-6E06-46453471A431}"/>
              </a:ext>
            </a:extLst>
          </p:cNvPr>
          <p:cNvSpPr/>
          <p:nvPr/>
        </p:nvSpPr>
        <p:spPr>
          <a:xfrm>
            <a:off x="-262890" y="570706"/>
            <a:ext cx="12630150" cy="914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4BFC31-CA8B-0F13-C8B3-408B28DB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Dataset: </a:t>
            </a:r>
            <a:r>
              <a:rPr lang="en-CA" dirty="0" err="1"/>
              <a:t>PeakAffectDS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4FA8D8-56B9-9AF0-90B9-03E872E3B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94585" y="1825625"/>
            <a:ext cx="54028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57545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32F20C-B731-063A-CC16-AB0943BCAC32}"/>
              </a:ext>
            </a:extLst>
          </p:cNvPr>
          <p:cNvSpPr/>
          <p:nvPr/>
        </p:nvSpPr>
        <p:spPr>
          <a:xfrm>
            <a:off x="-262890" y="570706"/>
            <a:ext cx="12630150" cy="914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A4EE2-D4DA-ED6F-7B02-867DF5F01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EMG Feature Extraction: </a:t>
            </a:r>
            <a:r>
              <a:rPr lang="en-CA" dirty="0" err="1"/>
              <a:t>EMGFlow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512C86-F0AC-AE47-BE63-75A03B9DA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70967" y="1825625"/>
            <a:ext cx="76500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57133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21B740-983C-7B7D-8ED6-0C5E2AD5F89C}"/>
              </a:ext>
            </a:extLst>
          </p:cNvPr>
          <p:cNvSpPr/>
          <p:nvPr/>
        </p:nvSpPr>
        <p:spPr>
          <a:xfrm>
            <a:off x="-262890" y="570706"/>
            <a:ext cx="12630150" cy="914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9D11F-0A25-61BC-421D-103CC74C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Emotion Prediction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422772-7054-AF03-B3AB-06438464D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10247" y="1825625"/>
            <a:ext cx="35715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30218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50EC5D-2866-F916-8F19-68895D3393A1}"/>
              </a:ext>
            </a:extLst>
          </p:cNvPr>
          <p:cNvSpPr/>
          <p:nvPr/>
        </p:nvSpPr>
        <p:spPr>
          <a:xfrm>
            <a:off x="-262890" y="570706"/>
            <a:ext cx="12630150" cy="914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0024A-71E7-6DC1-1B06-0C6364C8A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Development Decisions and Fine Tuning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6CD015-043B-9A12-4D18-DBF6E12E8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99943" y="3148687"/>
            <a:ext cx="6192114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13334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DA81C12-312F-BB6B-B296-77FBE80ADA07}"/>
              </a:ext>
            </a:extLst>
          </p:cNvPr>
          <p:cNvSpPr/>
          <p:nvPr/>
        </p:nvSpPr>
        <p:spPr>
          <a:xfrm>
            <a:off x="-262890" y="570706"/>
            <a:ext cx="12630150" cy="914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3BDDCE-60BA-2BDE-15DC-560B5C7D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Results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484CA4-97A8-EA18-2292-2DD63BDEC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977" y="3658277"/>
            <a:ext cx="2943636" cy="19719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4E08A0-D35B-B152-0643-D869F1204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670" y="2013447"/>
            <a:ext cx="2762250" cy="14763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7B60EEE-8A7F-1BBB-F426-997746A0A4E1}"/>
              </a:ext>
            </a:extLst>
          </p:cNvPr>
          <p:cNvSpPr txBox="1"/>
          <p:nvPr/>
        </p:nvSpPr>
        <p:spPr>
          <a:xfrm>
            <a:off x="6707823" y="1903951"/>
            <a:ext cx="11723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0. Calm</a:t>
            </a:r>
          </a:p>
          <a:p>
            <a:r>
              <a:rPr lang="en-CA" dirty="0"/>
              <a:t>1. Happy</a:t>
            </a:r>
          </a:p>
          <a:p>
            <a:r>
              <a:rPr lang="en-CA" dirty="0"/>
              <a:t>2. Sad</a:t>
            </a:r>
          </a:p>
          <a:p>
            <a:r>
              <a:rPr lang="en-CA" dirty="0"/>
              <a:t>3. Angry</a:t>
            </a:r>
          </a:p>
          <a:p>
            <a:r>
              <a:rPr lang="en-CA" dirty="0"/>
              <a:t>4. Fearful</a:t>
            </a:r>
          </a:p>
          <a:p>
            <a:r>
              <a:rPr lang="en-CA" dirty="0"/>
              <a:t>5. Disgust</a:t>
            </a:r>
          </a:p>
        </p:txBody>
      </p:sp>
    </p:spTree>
    <p:extLst>
      <p:ext uri="{BB962C8B-B14F-4D97-AF65-F5344CB8AC3E}">
        <p14:creationId xmlns:p14="http://schemas.microsoft.com/office/powerpoint/2010/main" val="2552740297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10935F-EC1A-FE8D-C285-45FE66587D48}"/>
              </a:ext>
            </a:extLst>
          </p:cNvPr>
          <p:cNvSpPr/>
          <p:nvPr/>
        </p:nvSpPr>
        <p:spPr>
          <a:xfrm>
            <a:off x="-262890" y="570706"/>
            <a:ext cx="12630150" cy="914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A7783-E726-CDDC-9EFE-6BE32F49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Discussion</a:t>
            </a:r>
          </a:p>
        </p:txBody>
      </p:sp>
      <p:pic>
        <p:nvPicPr>
          <p:cNvPr id="1026" name="Picture 2" descr="Figure 1. Examples of some action units extracted from Cohn and Kanade's  database [2]">
            <a:extLst>
              <a:ext uri="{FF2B5EF4-FFF2-40B4-BE49-F238E27FC236}">
                <a16:creationId xmlns:a16="http://schemas.microsoft.com/office/drawing/2014/main" id="{DB98C0B7-927D-16CE-9B1C-376E47B2DD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050" y="2772569"/>
            <a:ext cx="37719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491388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2F8A1C-D9A1-3A13-889E-9E9983D720CE}"/>
              </a:ext>
            </a:extLst>
          </p:cNvPr>
          <p:cNvSpPr/>
          <p:nvPr/>
        </p:nvSpPr>
        <p:spPr>
          <a:xfrm>
            <a:off x="-262890" y="570706"/>
            <a:ext cx="12630150" cy="914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D06FF-3F94-9EAE-C654-E8920FA4D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 and Next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5FF2AF-2CA0-6717-C8A9-69E848C19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GitHub:</a:t>
            </a:r>
            <a:r>
              <a:rPr lang="en-CA" dirty="0"/>
              <a:t> </a:t>
            </a:r>
            <a:r>
              <a:rPr lang="en-CA" dirty="0">
                <a:hlinkClick r:id="rId3"/>
              </a:rPr>
              <a:t>https://github.com/WiIIson/EMG-Emotion-Prediction</a:t>
            </a:r>
            <a:endParaRPr lang="en-CA" dirty="0"/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969749499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542A5-263B-7BE0-B59C-37206045526A}"/>
              </a:ext>
            </a:extLst>
          </p:cNvPr>
          <p:cNvSpPr/>
          <p:nvPr/>
        </p:nvSpPr>
        <p:spPr>
          <a:xfrm>
            <a:off x="-262890" y="570706"/>
            <a:ext cx="12630150" cy="914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81D2A-4BCD-FC95-BF3E-EFCB1EE6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56985-EE01-DFFF-ADB6-6EE355212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Chen, G., Chen, P., Shi, Y., Hsieh, C.-Y., Liao, B., &amp; Zhang, S. (2019). Rethinking the usage of batch normalization and dropout in the training of deep neural networks. </a:t>
            </a:r>
            <a:r>
              <a:rPr lang="en-US" dirty="0" err="1"/>
              <a:t>arXiv</a:t>
            </a:r>
            <a:r>
              <a:rPr lang="en-US" dirty="0"/>
              <a:t> preprint arXiv:1905.05928. </a:t>
            </a:r>
            <a:r>
              <a:rPr lang="en-US" dirty="0">
                <a:hlinkClick r:id="rId3"/>
              </a:rPr>
              <a:t>https://doi.org/10.48550/arXiv.1905.05928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Shah, V., &amp; Youngblood, N. (2024). Leveraging continuously differentiable activation functions for learning in quantized noisy environments. </a:t>
            </a:r>
            <a:r>
              <a:rPr lang="en-US" dirty="0" err="1"/>
              <a:t>arXiv</a:t>
            </a:r>
            <a:r>
              <a:rPr lang="en-US" dirty="0"/>
              <a:t> preprint arXiv:2402.02593. </a:t>
            </a:r>
            <a:r>
              <a:rPr lang="en-US" dirty="0">
                <a:hlinkClick r:id="rId4"/>
              </a:rPr>
              <a:t>https://doi.org/10.48550/arXiv.2402.02593</a:t>
            </a:r>
            <a:br>
              <a:rPr lang="en-US" dirty="0"/>
            </a:br>
            <a:br>
              <a:rPr lang="en-US" dirty="0"/>
            </a:br>
            <a:r>
              <a:rPr lang="en-CA" dirty="0"/>
              <a:t>Chawla, N. V., Bowyer, K. W., Hall, L. O., &amp; </a:t>
            </a:r>
            <a:r>
              <a:rPr lang="en-CA" dirty="0" err="1"/>
              <a:t>Kegelmeyer</a:t>
            </a:r>
            <a:r>
              <a:rPr lang="en-CA" dirty="0"/>
              <a:t>, W. P. (2002). SMOTE: Synthetic minority over-sampling technique. </a:t>
            </a:r>
            <a:r>
              <a:rPr lang="en-CA" i="1" dirty="0">
                <a:effectLst/>
              </a:rPr>
              <a:t>Journal of Artificial Intelligence Research, 16</a:t>
            </a:r>
            <a:r>
              <a:rPr lang="en-CA" dirty="0"/>
              <a:t>, 321–357. </a:t>
            </a:r>
            <a:r>
              <a:rPr lang="en-CA" dirty="0">
                <a:hlinkClick r:id="rId5"/>
              </a:rPr>
              <a:t>https://doi.org/10.1613/jair.953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92317003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2011</Words>
  <Application>Microsoft Office PowerPoint</Application>
  <PresentationFormat>Widescreen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EMG Emotion Prediction</vt:lpstr>
      <vt:lpstr>Introduction</vt:lpstr>
      <vt:lpstr>Goals</vt:lpstr>
      <vt:lpstr>Dataset: PeakAffectDS</vt:lpstr>
      <vt:lpstr>EMG Feature Extraction: EMGFlow</vt:lpstr>
      <vt:lpstr>Emotion Prediction Model</vt:lpstr>
      <vt:lpstr>Development Decisions and Fine Tuning</vt:lpstr>
      <vt:lpstr>Results</vt:lpstr>
      <vt:lpstr>Discussion</vt:lpstr>
      <vt:lpstr>Conclusion and Next Steps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william@cconley.ca</dc:creator>
  <cp:lastModifiedBy>william@cconley.ca</cp:lastModifiedBy>
  <cp:revision>20</cp:revision>
  <dcterms:created xsi:type="dcterms:W3CDTF">2026-03-30T21:30:59Z</dcterms:created>
  <dcterms:modified xsi:type="dcterms:W3CDTF">2026-03-31T17:50:47Z</dcterms:modified>
</cp:coreProperties>
</file>